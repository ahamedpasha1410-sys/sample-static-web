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handoutMasterIdLst>
    <p:handoutMasterId r:id="rId13"/>
  </p:handoutMasterIdLst>
  <p:sldIdLst>
    <p:sldId id="339" r:id="rId2"/>
    <p:sldId id="340" r:id="rId3"/>
    <p:sldId id="276" r:id="rId4"/>
    <p:sldId id="348" r:id="rId5"/>
    <p:sldId id="349" r:id="rId6"/>
    <p:sldId id="350" r:id="rId7"/>
    <p:sldId id="341" r:id="rId8"/>
    <p:sldId id="352" r:id="rId9"/>
    <p:sldId id="351" r:id="rId10"/>
    <p:sldId id="33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58"/>
    <p:restoredTop sz="95833"/>
  </p:normalViewPr>
  <p:slideViewPr>
    <p:cSldViewPr snapToGrid="0" snapToObjects="1">
      <p:cViewPr varScale="1">
        <p:scale>
          <a:sx n="42" d="100"/>
          <a:sy n="42" d="100"/>
        </p:scale>
        <p:origin x="48" y="150"/>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4/28/2026</a:t>
            </a:fld>
            <a:endParaRPr lang="en-US"/>
          </a:p>
        </p:txBody>
      </p:sp>
      <p:sp>
        <p:nvSpPr>
          <p:cNvPr id="4" name="Footer Placeholder 3">
            <a:extLst>
              <a:ext uri="{FF2B5EF4-FFF2-40B4-BE49-F238E27FC236}">
                <a16:creationId xmlns:a16="http://schemas.microsoft.com/office/drawing/2014/main" xmlns=""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xmlns=""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00154DD8-14C4-ACB8-D444-27F005A4C5CB}"/>
              </a:ext>
            </a:extLst>
          </p:cNvPr>
          <p:cNvSpPr>
            <a:spLocks noGrp="1"/>
          </p:cNvSpPr>
          <p:nvPr>
            <p:ph type="dt" sz="half" idx="10"/>
          </p:nvPr>
        </p:nvSpPr>
        <p:spPr/>
        <p:txBody>
          <a:bodyPr/>
          <a:lstStyle/>
          <a:p>
            <a:fld id="{E46EA4F2-0056-41D1-B30F-13CD5263FC96}" type="datetime1">
              <a:rPr lang="en-IN" smtClean="0"/>
              <a:t>28-04-2026</a:t>
            </a:fld>
            <a:endParaRPr lang="en-US"/>
          </a:p>
        </p:txBody>
      </p:sp>
      <p:sp>
        <p:nvSpPr>
          <p:cNvPr id="5" name="Footer Placeholder 4">
            <a:extLst>
              <a:ext uri="{FF2B5EF4-FFF2-40B4-BE49-F238E27FC236}">
                <a16:creationId xmlns:a16="http://schemas.microsoft.com/office/drawing/2014/main" xmlns="" id="{886BF891-4BCD-EC21-1259-8661D36C8A57}"/>
              </a:ext>
            </a:extLst>
          </p:cNvPr>
          <p:cNvSpPr>
            <a:spLocks noGrp="1"/>
          </p:cNvSpPr>
          <p:nvPr>
            <p:ph type="ftr" sz="quarter" idx="11"/>
          </p:nvPr>
        </p:nvSpPr>
        <p:spPr/>
        <p:txBody>
          <a:bodyPr/>
          <a:lstStyle/>
          <a:p>
            <a:r>
              <a:rPr lang="en-US"/>
              <a:t>REVIEW – 1 / 2 / 3    173030211    Department of CSA</a:t>
            </a:r>
          </a:p>
        </p:txBody>
      </p:sp>
      <p:sp>
        <p:nvSpPr>
          <p:cNvPr id="6" name="Slide Number Placeholder 5">
            <a:extLst>
              <a:ext uri="{FF2B5EF4-FFF2-40B4-BE49-F238E27FC236}">
                <a16:creationId xmlns:a16="http://schemas.microsoft.com/office/drawing/2014/main" xmlns=""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5C41205-CA2E-9649-1960-8F17E0E6D292}"/>
              </a:ext>
            </a:extLst>
          </p:cNvPr>
          <p:cNvSpPr>
            <a:spLocks noGrp="1"/>
          </p:cNvSpPr>
          <p:nvPr>
            <p:ph type="dt" sz="half" idx="10"/>
          </p:nvPr>
        </p:nvSpPr>
        <p:spPr/>
        <p:txBody>
          <a:bodyPr/>
          <a:lstStyle/>
          <a:p>
            <a:fld id="{4DA10CC1-F5E4-4FD6-B33A-C675844B3D9B}" type="datetime1">
              <a:rPr lang="en-IN" smtClean="0"/>
              <a:t>28-04-2026</a:t>
            </a:fld>
            <a:endParaRPr lang="en-US"/>
          </a:p>
        </p:txBody>
      </p:sp>
      <p:sp>
        <p:nvSpPr>
          <p:cNvPr id="5" name="Footer Placeholder 4">
            <a:extLst>
              <a:ext uri="{FF2B5EF4-FFF2-40B4-BE49-F238E27FC236}">
                <a16:creationId xmlns:a16="http://schemas.microsoft.com/office/drawing/2014/main" xmlns="" id="{BC702BAD-D0DE-F254-BBD1-2AFE276BD322}"/>
              </a:ext>
            </a:extLst>
          </p:cNvPr>
          <p:cNvSpPr>
            <a:spLocks noGrp="1"/>
          </p:cNvSpPr>
          <p:nvPr>
            <p:ph type="ftr" sz="quarter" idx="11"/>
          </p:nvPr>
        </p:nvSpPr>
        <p:spPr/>
        <p:txBody>
          <a:bodyPr/>
          <a:lstStyle/>
          <a:p>
            <a:r>
              <a:rPr lang="en-US"/>
              <a:t>REVIEW – 1 / 2 / 3    173030211    Department of CSA</a:t>
            </a:r>
          </a:p>
        </p:txBody>
      </p:sp>
      <p:sp>
        <p:nvSpPr>
          <p:cNvPr id="6" name="Slide Number Placeholder 5">
            <a:extLst>
              <a:ext uri="{FF2B5EF4-FFF2-40B4-BE49-F238E27FC236}">
                <a16:creationId xmlns:a16="http://schemas.microsoft.com/office/drawing/2014/main" xmlns=""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7525FFB0-0F78-AEB8-5AFB-EC779B961448}"/>
              </a:ext>
            </a:extLst>
          </p:cNvPr>
          <p:cNvSpPr>
            <a:spLocks noGrp="1"/>
          </p:cNvSpPr>
          <p:nvPr>
            <p:ph type="dt" sz="half" idx="10"/>
          </p:nvPr>
        </p:nvSpPr>
        <p:spPr/>
        <p:txBody>
          <a:bodyPr/>
          <a:lstStyle/>
          <a:p>
            <a:fld id="{55D8C31C-FE03-4445-B264-3DAA4F8226D4}" type="datetime1">
              <a:rPr lang="en-IN" smtClean="0"/>
              <a:t>28-04-2026</a:t>
            </a:fld>
            <a:endParaRPr lang="en-US"/>
          </a:p>
        </p:txBody>
      </p:sp>
      <p:sp>
        <p:nvSpPr>
          <p:cNvPr id="5" name="Footer Placeholder 4">
            <a:extLst>
              <a:ext uri="{FF2B5EF4-FFF2-40B4-BE49-F238E27FC236}">
                <a16:creationId xmlns:a16="http://schemas.microsoft.com/office/drawing/2014/main" xmlns="" id="{A4F3BE8E-E2EB-A8B6-21DD-9AB839A58AC4}"/>
              </a:ext>
            </a:extLst>
          </p:cNvPr>
          <p:cNvSpPr>
            <a:spLocks noGrp="1"/>
          </p:cNvSpPr>
          <p:nvPr>
            <p:ph type="ftr" sz="quarter" idx="11"/>
          </p:nvPr>
        </p:nvSpPr>
        <p:spPr/>
        <p:txBody>
          <a:bodyPr/>
          <a:lstStyle/>
          <a:p>
            <a:r>
              <a:rPr lang="en-US"/>
              <a:t>REVIEW – 1 / 2 / 3    173030211    Department of CSA</a:t>
            </a:r>
          </a:p>
        </p:txBody>
      </p:sp>
      <p:sp>
        <p:nvSpPr>
          <p:cNvPr id="6" name="Slide Number Placeholder 5">
            <a:extLst>
              <a:ext uri="{FF2B5EF4-FFF2-40B4-BE49-F238E27FC236}">
                <a16:creationId xmlns:a16="http://schemas.microsoft.com/office/drawing/2014/main" xmlns=""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76262ECC-3BDB-BEA4-4B7F-1545B0DC3A73}"/>
              </a:ext>
            </a:extLst>
          </p:cNvPr>
          <p:cNvSpPr>
            <a:spLocks noGrp="1"/>
          </p:cNvSpPr>
          <p:nvPr>
            <p:ph type="dt" sz="half" idx="10"/>
          </p:nvPr>
        </p:nvSpPr>
        <p:spPr/>
        <p:txBody>
          <a:bodyPr/>
          <a:lstStyle/>
          <a:p>
            <a:fld id="{DD01E881-F746-44FB-9B32-CD30BA11BCE6}" type="datetime1">
              <a:rPr lang="en-IN" smtClean="0"/>
              <a:t>28-04-2026</a:t>
            </a:fld>
            <a:endParaRPr lang="en-US"/>
          </a:p>
        </p:txBody>
      </p:sp>
      <p:sp>
        <p:nvSpPr>
          <p:cNvPr id="6" name="Footer Placeholder 5">
            <a:extLst>
              <a:ext uri="{FF2B5EF4-FFF2-40B4-BE49-F238E27FC236}">
                <a16:creationId xmlns:a16="http://schemas.microsoft.com/office/drawing/2014/main" xmlns="" id="{CD899311-B569-3D99-B257-5CEB03A68767}"/>
              </a:ext>
            </a:extLst>
          </p:cNvPr>
          <p:cNvSpPr>
            <a:spLocks noGrp="1"/>
          </p:cNvSpPr>
          <p:nvPr>
            <p:ph type="ftr" sz="quarter" idx="11"/>
          </p:nvPr>
        </p:nvSpPr>
        <p:spPr/>
        <p:txBody>
          <a:bodyPr/>
          <a:lstStyle/>
          <a:p>
            <a:r>
              <a:rPr lang="en-US"/>
              <a:t>REVIEW – 1 / 2 / 3    173030211    Department of CSA</a:t>
            </a:r>
          </a:p>
        </p:txBody>
      </p:sp>
      <p:sp>
        <p:nvSpPr>
          <p:cNvPr id="7" name="Slide Number Placeholder 6">
            <a:extLst>
              <a:ext uri="{FF2B5EF4-FFF2-40B4-BE49-F238E27FC236}">
                <a16:creationId xmlns:a16="http://schemas.microsoft.com/office/drawing/2014/main" xmlns=""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A22CB484-D858-5027-D2CF-125E103D2F43}"/>
              </a:ext>
            </a:extLst>
          </p:cNvPr>
          <p:cNvSpPr>
            <a:spLocks noGrp="1"/>
          </p:cNvSpPr>
          <p:nvPr>
            <p:ph type="dt" sz="half" idx="10"/>
          </p:nvPr>
        </p:nvSpPr>
        <p:spPr/>
        <p:txBody>
          <a:bodyPr/>
          <a:lstStyle/>
          <a:p>
            <a:fld id="{D09500B5-AB7B-4AB4-BA52-8D20A1F367CF}" type="datetime1">
              <a:rPr lang="en-IN" smtClean="0"/>
              <a:t>28-04-2026</a:t>
            </a:fld>
            <a:endParaRPr lang="en-US"/>
          </a:p>
        </p:txBody>
      </p:sp>
      <p:sp>
        <p:nvSpPr>
          <p:cNvPr id="8" name="Footer Placeholder 7">
            <a:extLst>
              <a:ext uri="{FF2B5EF4-FFF2-40B4-BE49-F238E27FC236}">
                <a16:creationId xmlns:a16="http://schemas.microsoft.com/office/drawing/2014/main" xmlns="" id="{68CD1DFD-AA21-1102-AD58-F0AB4361723D}"/>
              </a:ext>
            </a:extLst>
          </p:cNvPr>
          <p:cNvSpPr>
            <a:spLocks noGrp="1"/>
          </p:cNvSpPr>
          <p:nvPr>
            <p:ph type="ftr" sz="quarter" idx="11"/>
          </p:nvPr>
        </p:nvSpPr>
        <p:spPr/>
        <p:txBody>
          <a:bodyPr/>
          <a:lstStyle/>
          <a:p>
            <a:r>
              <a:rPr lang="en-US"/>
              <a:t>REVIEW – 1 / 2 / 3    173030211    Department of CSA</a:t>
            </a:r>
          </a:p>
        </p:txBody>
      </p:sp>
      <p:sp>
        <p:nvSpPr>
          <p:cNvPr id="9" name="Slide Number Placeholder 8">
            <a:extLst>
              <a:ext uri="{FF2B5EF4-FFF2-40B4-BE49-F238E27FC236}">
                <a16:creationId xmlns:a16="http://schemas.microsoft.com/office/drawing/2014/main" xmlns=""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0AD292FD-C465-3FCB-1CEB-331C31A973F6}"/>
              </a:ext>
            </a:extLst>
          </p:cNvPr>
          <p:cNvSpPr>
            <a:spLocks noGrp="1"/>
          </p:cNvSpPr>
          <p:nvPr>
            <p:ph type="dt" sz="half" idx="10"/>
          </p:nvPr>
        </p:nvSpPr>
        <p:spPr/>
        <p:txBody>
          <a:bodyPr/>
          <a:lstStyle/>
          <a:p>
            <a:fld id="{E5155770-0010-4962-B2FC-A5392FDFEB13}" type="datetime1">
              <a:rPr lang="en-IN" smtClean="0"/>
              <a:t>28-04-2026</a:t>
            </a:fld>
            <a:endParaRPr lang="en-US"/>
          </a:p>
        </p:txBody>
      </p:sp>
      <p:sp>
        <p:nvSpPr>
          <p:cNvPr id="5" name="Footer Placeholder 4">
            <a:extLst>
              <a:ext uri="{FF2B5EF4-FFF2-40B4-BE49-F238E27FC236}">
                <a16:creationId xmlns:a16="http://schemas.microsoft.com/office/drawing/2014/main" xmlns="" id="{03196C18-4538-A1F2-0B35-7684E5B30A32}"/>
              </a:ext>
            </a:extLst>
          </p:cNvPr>
          <p:cNvSpPr>
            <a:spLocks noGrp="1"/>
          </p:cNvSpPr>
          <p:nvPr>
            <p:ph type="ftr" sz="quarter" idx="11"/>
          </p:nvPr>
        </p:nvSpPr>
        <p:spPr/>
        <p:txBody>
          <a:bodyPr/>
          <a:lstStyle/>
          <a:p>
            <a:r>
              <a:rPr lang="en-US"/>
              <a:t>REVIEW – 1 / 2 / 3    173030211    Department of CSA</a:t>
            </a:r>
            <a:endParaRPr lang="en-US" dirty="0"/>
          </a:p>
        </p:txBody>
      </p:sp>
      <p:sp>
        <p:nvSpPr>
          <p:cNvPr id="6" name="Slide Number Placeholder 5">
            <a:extLst>
              <a:ext uri="{FF2B5EF4-FFF2-40B4-BE49-F238E27FC236}">
                <a16:creationId xmlns:a16="http://schemas.microsoft.com/office/drawing/2014/main" xmlns=""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2996C7-40A5-4468-ABD4-EEA4A817414D}" type="datetime1">
              <a:rPr lang="en-IN" smtClean="0"/>
              <a:t>28-04-2026</a:t>
            </a:fld>
            <a:endParaRPr lang="en-US"/>
          </a:p>
        </p:txBody>
      </p:sp>
      <p:sp>
        <p:nvSpPr>
          <p:cNvPr id="5" name="Footer Placeholder 4">
            <a:extLst>
              <a:ext uri="{FF2B5EF4-FFF2-40B4-BE49-F238E27FC236}">
                <a16:creationId xmlns:a16="http://schemas.microsoft.com/office/drawing/2014/main" xmlns=""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CSA</a:t>
            </a:r>
          </a:p>
        </p:txBody>
      </p:sp>
      <p:sp>
        <p:nvSpPr>
          <p:cNvPr id="6" name="Slide Number Placeholder 5">
            <a:extLst>
              <a:ext uri="{FF2B5EF4-FFF2-40B4-BE49-F238E27FC236}">
                <a16:creationId xmlns:a16="http://schemas.microsoft.com/office/drawing/2014/main" xmlns=""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1"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00A09-BF95-A121-71A4-33FFE91ACA86}"/>
              </a:ext>
            </a:extLst>
          </p:cNvPr>
          <p:cNvSpPr>
            <a:spLocks noGrp="1"/>
          </p:cNvSpPr>
          <p:nvPr>
            <p:ph type="title"/>
          </p:nvPr>
        </p:nvSpPr>
        <p:spPr>
          <a:xfrm>
            <a:off x="961417" y="300398"/>
            <a:ext cx="10506683" cy="1911859"/>
          </a:xfrm>
        </p:spPr>
        <p:txBody>
          <a:bodyPr>
            <a:noAutofit/>
          </a:bodyPr>
          <a:lstStyle/>
          <a:p>
            <a:pPr algn="ctr">
              <a:lnSpc>
                <a:spcPct val="100000"/>
              </a:lnSpc>
            </a:pP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b="1" dirty="0">
                <a:cs typeface="Arial" panose="020B0604020202020204" pitchFamily="34" charset="0"/>
              </a:rPr>
              <a:t> </a:t>
            </a:r>
            <a:br>
              <a:rPr lang="en-US" sz="2400" b="1" dirty="0">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b="1" dirty="0">
                <a:latin typeface="+mn-lt"/>
                <a:ea typeface="思源黑体-思源黑体-Regular" pitchFamily="34" charset="-122"/>
                <a:cs typeface="思源黑体-思源黑体-Regular" pitchFamily="34" charset="-120"/>
              </a:rPr>
              <a:t>Forecasting Passenger Traffic in Metro </a:t>
            </a:r>
            <a:r>
              <a:rPr lang="en-US" b="1" dirty="0" smtClean="0">
                <a:latin typeface="+mn-lt"/>
                <a:ea typeface="思源黑体-思源黑体-Regular" pitchFamily="34" charset="-122"/>
                <a:cs typeface="思源黑体-思源黑体-Regular" pitchFamily="34" charset="-120"/>
              </a:rPr>
              <a:t>Systems</a:t>
            </a:r>
            <a:r>
              <a:rPr lang="en-US" sz="2400" b="1" dirty="0">
                <a:latin typeface="+mn-lt"/>
              </a:rPr>
              <a:t/>
            </a:r>
            <a:br>
              <a:rPr lang="en-US" sz="2400" b="1" dirty="0">
                <a:latin typeface="+mn-lt"/>
              </a:rPr>
            </a:br>
            <a:endParaRPr lang="en-US" sz="2400" b="1"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xmlns="" id="{7AEAE0CE-45A1-A1FF-31F4-66CECAEF3059}"/>
              </a:ext>
            </a:extLst>
          </p:cNvPr>
          <p:cNvSpPr>
            <a:spLocks noGrp="1"/>
          </p:cNvSpPr>
          <p:nvPr>
            <p:ph sz="half" idx="1"/>
          </p:nvPr>
        </p:nvSpPr>
        <p:spPr>
          <a:xfrm>
            <a:off x="984610" y="4328861"/>
            <a:ext cx="10515600" cy="1097555"/>
          </a:xfrm>
        </p:spPr>
        <p:txBody>
          <a:bodyPr>
            <a:normAutofit fontScale="92500" lnSpcReduction="20000"/>
          </a:bodyPr>
          <a:lstStyle/>
          <a:p>
            <a:pPr marL="0" indent="0" algn="ctr">
              <a:buNone/>
            </a:pPr>
            <a:r>
              <a:rPr lang="en-US" sz="2400" dirty="0" smtClean="0"/>
              <a:t>NEHA MAHAMI</a:t>
            </a:r>
            <a:endParaRPr lang="en-US" sz="2400" dirty="0"/>
          </a:p>
          <a:p>
            <a:pPr marL="0" indent="0" algn="ctr">
              <a:buNone/>
            </a:pPr>
            <a:r>
              <a:rPr lang="en-US" sz="2400" dirty="0" smtClean="0"/>
              <a:t>151224862059</a:t>
            </a:r>
            <a:endParaRPr lang="en-US" sz="2400" dirty="0"/>
          </a:p>
          <a:p>
            <a:pPr marL="0" indent="0" algn="ctr">
              <a:buNone/>
            </a:pPr>
            <a:r>
              <a:rPr lang="en-US" sz="2400" dirty="0"/>
              <a:t>MASTER OF COMPUTER APPLICATIONS</a:t>
            </a:r>
          </a:p>
          <a:p>
            <a:pPr marL="0" indent="0" algn="ctr">
              <a:buNone/>
            </a:pPr>
            <a:endParaRPr lang="en-US" sz="2400" dirty="0"/>
          </a:p>
        </p:txBody>
      </p:sp>
      <p:sp>
        <p:nvSpPr>
          <p:cNvPr id="6" name="Date Placeholder 5">
            <a:extLst>
              <a:ext uri="{FF2B5EF4-FFF2-40B4-BE49-F238E27FC236}">
                <a16:creationId xmlns:a16="http://schemas.microsoft.com/office/drawing/2014/main" xmlns="" id="{024CF11E-4EBB-004C-8FD7-152B8D16D8B6}"/>
              </a:ext>
            </a:extLst>
          </p:cNvPr>
          <p:cNvSpPr>
            <a:spLocks noGrp="1"/>
          </p:cNvSpPr>
          <p:nvPr>
            <p:ph type="dt" sz="half" idx="10"/>
          </p:nvPr>
        </p:nvSpPr>
        <p:spPr/>
        <p:txBody>
          <a:bodyPr/>
          <a:lstStyle/>
          <a:p>
            <a:fld id="{6107D17D-059A-4FCE-9D5B-F96C6496D86D}" type="datetime1">
              <a:rPr lang="en-IN" smtClean="0"/>
              <a:t>28-04-2026</a:t>
            </a:fld>
            <a:endParaRPr lang="en-US" dirty="0"/>
          </a:p>
        </p:txBody>
      </p:sp>
      <p:sp>
        <p:nvSpPr>
          <p:cNvPr id="5" name="Slide Number Placeholder 4">
            <a:extLst>
              <a:ext uri="{FF2B5EF4-FFF2-40B4-BE49-F238E27FC236}">
                <a16:creationId xmlns:a16="http://schemas.microsoft.com/office/drawing/2014/main" xmlns="" id="{913C41FE-7D1F-E7DF-F0EB-DE18D39555E3}"/>
              </a:ext>
            </a:extLst>
          </p:cNvPr>
          <p:cNvSpPr>
            <a:spLocks noGrp="1"/>
          </p:cNvSpPr>
          <p:nvPr>
            <p:ph type="sldNum" sz="quarter" idx="12"/>
          </p:nvPr>
        </p:nvSpPr>
        <p:spPr/>
        <p:txBody>
          <a:bodyPr/>
          <a:lstStyle/>
          <a:p>
            <a:fld id="{B961B71F-4B40-8942-BB88-E0F5C0B46E10}" type="slidenum">
              <a:rPr lang="en-US" smtClean="0"/>
              <a:pPr/>
              <a:t>1</a:t>
            </a:fld>
            <a:endParaRPr lang="en-US" dirty="0"/>
          </a:p>
        </p:txBody>
      </p:sp>
      <p:sp>
        <p:nvSpPr>
          <p:cNvPr id="9" name="Content Placeholder 3">
            <a:extLst>
              <a:ext uri="{FF2B5EF4-FFF2-40B4-BE49-F238E27FC236}">
                <a16:creationId xmlns:a16="http://schemas.microsoft.com/office/drawing/2014/main" xmlns=""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xmlns="" id="{968465D1-CCC3-285A-3E29-8B23DC764FF6}"/>
              </a:ext>
            </a:extLst>
          </p:cNvPr>
          <p:cNvSpPr txBox="1">
            <a:spLocks/>
          </p:cNvSpPr>
          <p:nvPr/>
        </p:nvSpPr>
        <p:spPr>
          <a:xfrm>
            <a:off x="502920" y="2430662"/>
            <a:ext cx="11384280" cy="19932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solidFill>
                <a:srgbClr val="00B050"/>
              </a:solidFill>
            </a:endParaRPr>
          </a:p>
        </p:txBody>
      </p:sp>
      <p:grpSp>
        <p:nvGrpSpPr>
          <p:cNvPr id="14" name="Group 13">
            <a:extLst>
              <a:ext uri="{FF2B5EF4-FFF2-40B4-BE49-F238E27FC236}">
                <a16:creationId xmlns:a16="http://schemas.microsoft.com/office/drawing/2014/main" xmlns="" id="{EB0FC19A-17E3-BEBD-E99D-3533BF187D84}"/>
              </a:ext>
            </a:extLst>
          </p:cNvPr>
          <p:cNvGrpSpPr/>
          <p:nvPr/>
        </p:nvGrpSpPr>
        <p:grpSpPr>
          <a:xfrm>
            <a:off x="1023218" y="300398"/>
            <a:ext cx="10610801" cy="1399769"/>
            <a:chOff x="1509915" y="300398"/>
            <a:chExt cx="10610801" cy="1399769"/>
          </a:xfrm>
        </p:grpSpPr>
        <p:pic>
          <p:nvPicPr>
            <p:cNvPr id="1026" name="Picture 2">
              <a:extLst>
                <a:ext uri="{FF2B5EF4-FFF2-40B4-BE49-F238E27FC236}">
                  <a16:creationId xmlns:a16="http://schemas.microsoft.com/office/drawing/2014/main" xmlns="" id="{ADF2EE08-3703-11B6-1390-D5CE95D9A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915" y="300398"/>
              <a:ext cx="1399769" cy="139976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xmlns="" id="{12B9CF3A-903A-FCF6-DE37-C832532A263A}"/>
                </a:ext>
              </a:extLst>
            </p:cNvPr>
            <p:cNvSpPr/>
            <p:nvPr/>
          </p:nvSpPr>
          <p:spPr>
            <a:xfrm>
              <a:off x="2209800" y="300398"/>
              <a:ext cx="9910916" cy="1200329"/>
            </a:xfrm>
            <a:prstGeom prst="rect">
              <a:avLst/>
            </a:prstGeom>
            <a:noFill/>
          </p:spPr>
          <p:txBody>
            <a:bodyPr wrap="square" lIns="91440" tIns="45720" rIns="91440" bIns="45720">
              <a:spAutoFit/>
            </a:bodyPr>
            <a:lstStyle/>
            <a:p>
              <a:pPr algn="ctr"/>
              <a:r>
                <a:rPr lang="en-US" sz="3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mn-lt"/>
                  <a:cs typeface="Arial" panose="020B0604020202020204" pitchFamily="34" charset="0"/>
                </a:rPr>
                <a:t>RAJA BAHADUR VENKATA RAMA REDDY </a:t>
              </a:r>
              <a:br>
                <a:rPr lang="en-US" sz="3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mn-lt"/>
                  <a:cs typeface="Arial" panose="020B0604020202020204" pitchFamily="34" charset="0"/>
                </a:rPr>
              </a:br>
              <a:r>
                <a:rPr lang="en-US" sz="3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mn-lt"/>
                  <a:cs typeface="Arial" panose="020B0604020202020204" pitchFamily="34" charset="0"/>
                </a:rPr>
                <a:t>INSTITUTE OF TECHNOLOGY</a:t>
              </a:r>
              <a:endParaRPr lang="en-IN" sz="3600" dirty="0">
                <a:ln w="0">
                  <a:solidFill>
                    <a:sysClr val="windowText" lastClr="000000"/>
                  </a:solidFill>
                </a:ln>
                <a:solidFill>
                  <a:schemeClr val="accent1"/>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1772792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t>Abstract</a:t>
            </a:r>
          </a:p>
          <a:p>
            <a:pPr marL="514350" indent="-514350">
              <a:buFont typeface="+mj-lt"/>
              <a:buAutoNum type="arabicPeriod"/>
            </a:pPr>
            <a:r>
              <a:rPr lang="en-IN" dirty="0"/>
              <a:t>Existing system</a:t>
            </a:r>
          </a:p>
          <a:p>
            <a:pPr marL="514350" indent="-514350">
              <a:buFont typeface="+mj-lt"/>
              <a:buAutoNum type="arabicPeriod"/>
            </a:pPr>
            <a:r>
              <a:rPr lang="en-IN" dirty="0"/>
              <a:t>Proposed system</a:t>
            </a:r>
          </a:p>
          <a:p>
            <a:pPr marL="514350" indent="-514350">
              <a:buFont typeface="+mj-lt"/>
              <a:buAutoNum type="arabicPeriod"/>
            </a:pPr>
            <a:r>
              <a:rPr lang="en-IN" dirty="0"/>
              <a:t>Literature Review</a:t>
            </a:r>
          </a:p>
          <a:p>
            <a:pPr marL="514350" indent="-514350">
              <a:buFont typeface="+mj-lt"/>
              <a:buAutoNum type="arabicPeriod"/>
            </a:pPr>
            <a:r>
              <a:rPr lang="en-IN" dirty="0"/>
              <a:t>Objectives </a:t>
            </a:r>
          </a:p>
          <a:p>
            <a:pPr marL="514350" indent="-514350">
              <a:buFont typeface="+mj-lt"/>
              <a:buAutoNum type="arabicPeriod"/>
            </a:pPr>
            <a:r>
              <a:rPr lang="en-IN" dirty="0"/>
              <a:t>Software &amp; Hardware Requirements</a:t>
            </a:r>
          </a:p>
          <a:p>
            <a:pPr marL="0" indent="0">
              <a:buNone/>
            </a:pPr>
            <a:endParaRPr lang="en-IN" dirty="0"/>
          </a:p>
          <a:p>
            <a:endParaRPr lang="en-US" dirty="0"/>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56385E22-AC30-4AF9-9F2F-31176267F79D}" type="datetime1">
              <a:rPr lang="en-IN" smtClean="0"/>
              <a:t>28-04-2026</a:t>
            </a:fld>
            <a:endParaRPr lang="en-US"/>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pPr/>
              <a:t>2</a:t>
            </a:fld>
            <a:endParaRPr lang="en-US"/>
          </a:p>
        </p:txBody>
      </p:sp>
    </p:spTree>
    <p:extLst>
      <p:ext uri="{BB962C8B-B14F-4D97-AF65-F5344CB8AC3E}">
        <p14:creationId xmlns:p14="http://schemas.microsoft.com/office/powerpoint/2010/main" val="1786325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70104DBC-E65D-4E4D-8539-1123AB93511F}" type="datetime1">
              <a:rPr lang="en-IN" smtClean="0"/>
              <a:t>28-04-2026</a:t>
            </a:fld>
            <a:endParaRPr lang="en-US"/>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14" name="Title 7">
            <a:extLst>
              <a:ext uri="{FF2B5EF4-FFF2-40B4-BE49-F238E27FC236}">
                <a16:creationId xmlns:a16="http://schemas.microsoft.com/office/drawing/2014/main" xmlns="" id="{7564F9B7-986C-B0A3-E6FD-C15BC64795DF}"/>
              </a:ext>
            </a:extLst>
          </p:cNvPr>
          <p:cNvSpPr>
            <a:spLocks noGrp="1"/>
          </p:cNvSpPr>
          <p:nvPr>
            <p:ph type="title"/>
          </p:nvPr>
        </p:nvSpPr>
        <p:spPr>
          <a:xfrm>
            <a:off x="1181100" y="365125"/>
            <a:ext cx="10172700" cy="1128713"/>
          </a:xfrm>
        </p:spPr>
        <p:txBody>
          <a:bodyPr/>
          <a:lstStyle/>
          <a:p>
            <a:pPr algn="ctr"/>
            <a:r>
              <a:rPr lang="en-IN" b="1" dirty="0"/>
              <a:t>ABSTRACT</a:t>
            </a:r>
            <a:endParaRPr lang="en-US" b="1" dirty="0"/>
          </a:p>
        </p:txBody>
      </p:sp>
      <p:sp>
        <p:nvSpPr>
          <p:cNvPr id="15" name="TextBox 14">
            <a:extLst>
              <a:ext uri="{FF2B5EF4-FFF2-40B4-BE49-F238E27FC236}">
                <a16:creationId xmlns:a16="http://schemas.microsoft.com/office/drawing/2014/main" xmlns="" id="{9BA05352-CD5E-7C51-A4E7-8745E6958923}"/>
              </a:ext>
            </a:extLst>
          </p:cNvPr>
          <p:cNvSpPr txBox="1"/>
          <p:nvPr/>
        </p:nvSpPr>
        <p:spPr>
          <a:xfrm>
            <a:off x="838200" y="1253613"/>
            <a:ext cx="11093245" cy="5078313"/>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This research study presents a comprehensive study on forecasting passenger traffic in metro systems utilizing an ARIMA (</a:t>
            </a:r>
            <a:r>
              <a:rPr lang="en-US" dirty="0" smtClean="0">
                <a:ea typeface="思源黑体-思源黑体-Medium" pitchFamily="34" charset="-122"/>
                <a:cs typeface="思源黑体-思源黑体-Medium" pitchFamily="34" charset="-120"/>
              </a:rPr>
              <a:t>Auto Regressive </a:t>
            </a:r>
            <a:r>
              <a:rPr lang="en-US" dirty="0">
                <a:ea typeface="思源黑体-思源黑体-Medium" pitchFamily="34" charset="-122"/>
                <a:cs typeface="思源黑体-思源黑体-Medium" pitchFamily="34" charset="-120"/>
              </a:rPr>
              <a:t>Integrated Moving Average) model applied to ticket reservation data from the Hyderabad Metro system. In increasing urbanization, metro systems face challenges such as overcrowding and fluctuating passenger demand, which adversely affect operational efficiency. </a:t>
            </a:r>
            <a:endParaRPr lang="en-US" dirty="0" smtClean="0">
              <a:ea typeface="思源黑体-思源黑体-Medium" pitchFamily="34" charset="-122"/>
              <a:cs typeface="思源黑体-思源黑体-Medium" pitchFamily="34" charset="-120"/>
            </a:endParaRPr>
          </a:p>
          <a:p>
            <a:pPr algn="just"/>
            <a:endParaRPr lang="en-US" dirty="0" smtClean="0">
              <a:ea typeface="思源黑体-思源黑体-Medium" pitchFamily="34" charset="-122"/>
              <a:cs typeface="思源黑体-思源黑体-Medium" pitchFamily="34" charset="-120"/>
            </a:endParaRPr>
          </a:p>
          <a:p>
            <a:pPr marL="285750" indent="-285750" algn="just">
              <a:buFont typeface="Wingdings" panose="05000000000000000000" pitchFamily="2" charset="2"/>
              <a:buChar char="Ø"/>
            </a:pPr>
            <a:r>
              <a:rPr lang="en-US" dirty="0" smtClean="0">
                <a:ea typeface="思源黑体-思源黑体-Medium" pitchFamily="34" charset="-122"/>
                <a:cs typeface="思源黑体-思源黑体-Medium" pitchFamily="34" charset="-120"/>
              </a:rPr>
              <a:t>The </a:t>
            </a:r>
            <a:r>
              <a:rPr lang="en-US" dirty="0">
                <a:ea typeface="思源黑体-思源黑体-Medium" pitchFamily="34" charset="-122"/>
                <a:cs typeface="思源黑体-思源黑体-Medium" pitchFamily="34" charset="-120"/>
              </a:rPr>
              <a:t>proposed ARIMA model effectively identifies temporal trends and seasonal variations in ridership, enabling accurate predictions of passenger flow patterns. Additionally, this research integrates the forecasting insights into a user-friendly application that provides real-time crowd analysis, alternative route suggestions, and peak hour traffic predictions, thereby enhancing the commuter experience</a:t>
            </a:r>
            <a:r>
              <a:rPr lang="en-US" dirty="0" smtClean="0">
                <a:ea typeface="思源黑体-思源黑体-Medium" pitchFamily="34" charset="-122"/>
                <a:cs typeface="思源黑体-思源黑体-Medium" pitchFamily="34" charset="-120"/>
              </a:rPr>
              <a:t>.</a:t>
            </a:r>
          </a:p>
          <a:p>
            <a:pPr algn="just"/>
            <a:endParaRPr lang="en-US" dirty="0" smtClean="0">
              <a:ea typeface="思源黑体-思源黑体-Medium" pitchFamily="34" charset="-122"/>
              <a:cs typeface="思源黑体-思源黑体-Medium" pitchFamily="34" charset="-120"/>
            </a:endParaRPr>
          </a:p>
          <a:p>
            <a:pPr marL="285750" indent="-285750" algn="just">
              <a:buFont typeface="Wingdings" panose="05000000000000000000" pitchFamily="2" charset="2"/>
              <a:buChar char="Ø"/>
            </a:pPr>
            <a:r>
              <a:rPr lang="en-US" dirty="0" smtClean="0">
                <a:ea typeface="思源黑体-思源黑体-Medium" pitchFamily="34" charset="-122"/>
                <a:cs typeface="思源黑体-思源黑体-Medium" pitchFamily="34" charset="-120"/>
              </a:rPr>
              <a:t> </a:t>
            </a:r>
            <a:r>
              <a:rPr lang="en-US" dirty="0">
                <a:ea typeface="思源黑体-思源黑体-Medium" pitchFamily="34" charset="-122"/>
                <a:cs typeface="思源黑体-思源黑体-Medium" pitchFamily="34" charset="-120"/>
              </a:rPr>
              <a:t>By demonstrating the practicality of machine learning techniques in public transportation planning, this study encourages the adoption of data-driven methodologies to promote more reliable and efficient metro systems. The findings underscore the potential of integrating ARIMA with other predictive models to enhance forecasting accuracy, ultimately contributing to a sustainable urban transportation ecosystem.</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2369145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184573-FABA-C97A-58F4-788B907FA685}"/>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xmlns="" id="{617E55FC-EAB3-9B96-17BB-7A3A0A478A17}"/>
              </a:ext>
            </a:extLst>
          </p:cNvPr>
          <p:cNvSpPr>
            <a:spLocks noGrp="1"/>
          </p:cNvSpPr>
          <p:nvPr>
            <p:ph type="dt" sz="half" idx="10"/>
          </p:nvPr>
        </p:nvSpPr>
        <p:spPr/>
        <p:txBody>
          <a:bodyPr/>
          <a:lstStyle/>
          <a:p>
            <a:fld id="{70104DBC-E65D-4E4D-8539-1123AB93511F}" type="datetime1">
              <a:rPr lang="en-IN" smtClean="0"/>
              <a:t>28-04-2026</a:t>
            </a:fld>
            <a:endParaRPr lang="en-US"/>
          </a:p>
        </p:txBody>
      </p:sp>
      <p:sp>
        <p:nvSpPr>
          <p:cNvPr id="7" name="Slide Number Placeholder 6">
            <a:extLst>
              <a:ext uri="{FF2B5EF4-FFF2-40B4-BE49-F238E27FC236}">
                <a16:creationId xmlns:a16="http://schemas.microsoft.com/office/drawing/2014/main" xmlns="" id="{8454ED79-F7BB-2136-84CA-33679A5C8FE2}"/>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14" name="Title 7">
            <a:extLst>
              <a:ext uri="{FF2B5EF4-FFF2-40B4-BE49-F238E27FC236}">
                <a16:creationId xmlns:a16="http://schemas.microsoft.com/office/drawing/2014/main" xmlns="" id="{ED53E3B8-2672-2941-1DCA-D7B90D9925CE}"/>
              </a:ext>
            </a:extLst>
          </p:cNvPr>
          <p:cNvSpPr>
            <a:spLocks noGrp="1"/>
          </p:cNvSpPr>
          <p:nvPr>
            <p:ph type="title"/>
          </p:nvPr>
        </p:nvSpPr>
        <p:spPr>
          <a:xfrm>
            <a:off x="1181100" y="365125"/>
            <a:ext cx="10172700" cy="1128713"/>
          </a:xfrm>
        </p:spPr>
        <p:txBody>
          <a:bodyPr>
            <a:normAutofit/>
          </a:bodyPr>
          <a:lstStyle/>
          <a:p>
            <a:pPr algn="ctr"/>
            <a:r>
              <a:rPr lang="en-IN" b="1" dirty="0"/>
              <a:t>EXISTING SYSTEM</a:t>
            </a:r>
            <a:endParaRPr lang="en-US" b="1" dirty="0"/>
          </a:p>
        </p:txBody>
      </p:sp>
      <p:sp>
        <p:nvSpPr>
          <p:cNvPr id="15" name="TextBox 14">
            <a:extLst>
              <a:ext uri="{FF2B5EF4-FFF2-40B4-BE49-F238E27FC236}">
                <a16:creationId xmlns:a16="http://schemas.microsoft.com/office/drawing/2014/main" xmlns="" id="{300D6A45-7746-FE79-E325-AACBE7882458}"/>
              </a:ext>
            </a:extLst>
          </p:cNvPr>
          <p:cNvSpPr txBox="1"/>
          <p:nvPr/>
        </p:nvSpPr>
        <p:spPr>
          <a:xfrm>
            <a:off x="838200" y="1253613"/>
            <a:ext cx="11093245" cy="4801314"/>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The existing metro systems typically rely on static schedules and manual estimation methods to manage passenger traffic and train operations. Forecasting passenger flow is often based on historical averages or fixed assumptions, without considering real-time factors such as holidays, weather conditions, or time-specific patterns. These conventional approaches lack adaptability and accuracy, leading to issues like overcrowded platforms, underutilized trains during non-peak hours, and inefficient resource allocation</a:t>
            </a:r>
            <a:r>
              <a:rPr lang="en-US" dirty="0">
                <a:solidFill>
                  <a:srgbClr val="FFDEDE"/>
                </a:solidFill>
                <a:latin typeface="思源黑体-思源黑体-Medium" pitchFamily="34" charset="0"/>
                <a:ea typeface="思源黑体-思源黑体-Medium" pitchFamily="34" charset="-122"/>
                <a:cs typeface="思源黑体-思源黑体-Medium" pitchFamily="34" charset="-120"/>
              </a:rPr>
              <a:t>.</a:t>
            </a:r>
            <a:endParaRPr lang="en-US" dirty="0"/>
          </a:p>
          <a:p>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Moreover, most current systems do not offer personalized or predictive information to commuters. Passengers are unaware of upcoming crowd levels, peak hour congestion, or alternative routes, which often results in inconvenience and travel delays. Administrative systems also lack intelligent dashboards or forecasting tools to support proactive decision-making and operational adjustments</a:t>
            </a:r>
            <a:endParaRPr lang="en-US" dirty="0"/>
          </a:p>
          <a:p>
            <a:pPr marL="285750" indent="-285750">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While some metros may use basic data visualization or ticketing statistics, they do not incorporate advanced forecasting models such as ARIMA or machine learning algorithms. This results in a reactive management strategy rather than a proactive one.</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741524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F79E5E-A090-8CC4-38AD-F196417A2ADA}"/>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xmlns="" id="{B7034EF1-100F-C5BE-7A7C-FD6680F062B6}"/>
              </a:ext>
            </a:extLst>
          </p:cNvPr>
          <p:cNvSpPr>
            <a:spLocks noGrp="1"/>
          </p:cNvSpPr>
          <p:nvPr>
            <p:ph type="dt" sz="half" idx="10"/>
          </p:nvPr>
        </p:nvSpPr>
        <p:spPr/>
        <p:txBody>
          <a:bodyPr/>
          <a:lstStyle/>
          <a:p>
            <a:fld id="{70104DBC-E65D-4E4D-8539-1123AB93511F}" type="datetime1">
              <a:rPr lang="en-IN" smtClean="0"/>
              <a:t>28-04-2026</a:t>
            </a:fld>
            <a:endParaRPr lang="en-US"/>
          </a:p>
        </p:txBody>
      </p:sp>
      <p:sp>
        <p:nvSpPr>
          <p:cNvPr id="7" name="Slide Number Placeholder 6">
            <a:extLst>
              <a:ext uri="{FF2B5EF4-FFF2-40B4-BE49-F238E27FC236}">
                <a16:creationId xmlns:a16="http://schemas.microsoft.com/office/drawing/2014/main" xmlns="" id="{E7814FA9-643D-952C-3EA2-D7F745E924EF}"/>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14" name="Title 7">
            <a:extLst>
              <a:ext uri="{FF2B5EF4-FFF2-40B4-BE49-F238E27FC236}">
                <a16:creationId xmlns:a16="http://schemas.microsoft.com/office/drawing/2014/main" xmlns="" id="{49FD2F24-5E52-CD2E-F07E-492E7E433D38}"/>
              </a:ext>
            </a:extLst>
          </p:cNvPr>
          <p:cNvSpPr>
            <a:spLocks noGrp="1"/>
          </p:cNvSpPr>
          <p:nvPr>
            <p:ph type="title"/>
          </p:nvPr>
        </p:nvSpPr>
        <p:spPr>
          <a:xfrm>
            <a:off x="1181100" y="365125"/>
            <a:ext cx="10172700" cy="1128713"/>
          </a:xfrm>
        </p:spPr>
        <p:txBody>
          <a:bodyPr>
            <a:normAutofit/>
          </a:bodyPr>
          <a:lstStyle/>
          <a:p>
            <a:pPr algn="ctr"/>
            <a:r>
              <a:rPr lang="en-IN" b="1" dirty="0"/>
              <a:t>PROPOSED SYSTEM</a:t>
            </a:r>
          </a:p>
        </p:txBody>
      </p:sp>
      <p:sp>
        <p:nvSpPr>
          <p:cNvPr id="15" name="TextBox 14">
            <a:extLst>
              <a:ext uri="{FF2B5EF4-FFF2-40B4-BE49-F238E27FC236}">
                <a16:creationId xmlns:a16="http://schemas.microsoft.com/office/drawing/2014/main" xmlns="" id="{77BDCCD5-F674-7FA0-06FE-F4251ABBFBD3}"/>
              </a:ext>
            </a:extLst>
          </p:cNvPr>
          <p:cNvSpPr txBox="1"/>
          <p:nvPr/>
        </p:nvSpPr>
        <p:spPr>
          <a:xfrm>
            <a:off x="838200" y="1253613"/>
            <a:ext cx="11093245" cy="5355312"/>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The proposed system aims to forecast passenger traffic in metro systems using a hybrid approach that combines time-series analysis and machine learning techniques. To address challenges such as overcrowding, fluctuating demand, and inefficient resource allocation in metro services, the system leverages historical ticket reservation data to predict future passenger flow. The core of the system utilizes the ARIMA (</a:t>
            </a:r>
            <a:r>
              <a:rPr lang="en-US" dirty="0" err="1">
                <a:ea typeface="思源黑体-思源黑体-Medium" pitchFamily="34" charset="-122"/>
                <a:cs typeface="思源黑体-思源黑体-Medium" pitchFamily="34" charset="-120"/>
              </a:rPr>
              <a:t>AutoRegressive</a:t>
            </a:r>
            <a:r>
              <a:rPr lang="en-US" dirty="0">
                <a:ea typeface="思源黑体-思源黑体-Medium" pitchFamily="34" charset="-122"/>
                <a:cs typeface="思源黑体-思源黑体-Medium" pitchFamily="34" charset="-120"/>
              </a:rPr>
              <a:t> Integrated Moving Average) model, which effectively captures temporal trends and seasonality within the data, allowing accurate short-term </a:t>
            </a:r>
            <a:r>
              <a:rPr lang="en-US" dirty="0" smtClean="0">
                <a:ea typeface="思源黑体-思源黑体-Medium" pitchFamily="34" charset="-122"/>
                <a:cs typeface="思源黑体-思源黑体-Medium" pitchFamily="34" charset="-120"/>
              </a:rPr>
              <a:t>predictions.</a:t>
            </a:r>
          </a:p>
          <a:p>
            <a:pPr algn="just"/>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The entire solution is implemented as a web-based application using </a:t>
            </a:r>
            <a:r>
              <a:rPr lang="en-US" dirty="0" err="1">
                <a:ea typeface="思源黑体-思源黑体-Medium" pitchFamily="34" charset="-122"/>
                <a:cs typeface="思源黑体-思源黑体-Medium" pitchFamily="34" charset="-120"/>
              </a:rPr>
              <a:t>Django</a:t>
            </a:r>
            <a:r>
              <a:rPr lang="en-US" dirty="0">
                <a:ea typeface="思源黑体-思源黑体-Medium" pitchFamily="34" charset="-122"/>
                <a:cs typeface="思源黑体-思源黑体-Medium" pitchFamily="34" charset="-120"/>
              </a:rPr>
              <a:t>. Users can register, log in, and access the passenger forecasting feature through a user-friendly interface. An OTP-based password reset module ensures secure access. Administrators can manage user activations and view overall system performance. The application includes visual representations such as ACF/PACF plots, seasonal decomposition, and weekly/monthly analysis to support better understanding and planning</a:t>
            </a:r>
            <a:endParaRPr lang="en-US" dirty="0"/>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This integrated approach not only facilitates accurate prediction of metro ridership but also provides real-time insights into passenger trends. By helping commuters plan their journeys and assisting metro authorities in managing peak loads, the system contributes to enhancing the efficiency and sustainability of urban transportation. </a:t>
            </a:r>
            <a:endParaRPr lang="en-US"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155104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LITERATURE REVIEW</a:t>
            </a:r>
            <a:endParaRPr lang="en-US" b="1" dirty="0"/>
          </a:p>
        </p:txBody>
      </p:sp>
      <p:sp>
        <p:nvSpPr>
          <p:cNvPr id="3" name="Content Placeholder 2"/>
          <p:cNvSpPr>
            <a:spLocks noGrp="1"/>
          </p:cNvSpPr>
          <p:nvPr>
            <p:ph idx="1"/>
          </p:nvPr>
        </p:nvSpPr>
        <p:spPr/>
        <p:txBody>
          <a:bodyPr>
            <a:normAutofit/>
          </a:bodyPr>
          <a:lstStyle/>
          <a:p>
            <a:pPr algn="just">
              <a:lnSpc>
                <a:spcPts val="2040"/>
              </a:lnSpc>
              <a:buFont typeface="Wingdings" panose="05000000000000000000" pitchFamily="2" charset="2"/>
              <a:buChar char="Ø"/>
            </a:pPr>
            <a:r>
              <a:rPr lang="en-US" sz="1800" dirty="0">
                <a:ea typeface="思源黑体-思源黑体-Medium" pitchFamily="34" charset="-122"/>
                <a:cs typeface="思源黑体-思源黑体-Medium" pitchFamily="34" charset="-120"/>
              </a:rPr>
              <a:t>The literature review explores a wide range of methodologies and models applied in passenger flow prediction for metro systems. It highlights state-of-the-art techniques, including ARIMA, SARIMA, deep learning, and hybrid approaches, to provide a comprehensive understanding of advancements in forecasting ridership trends and addressing operational challenges in urban transit systems</a:t>
            </a:r>
            <a:r>
              <a:rPr lang="en-US" sz="1800" dirty="0" smtClean="0">
                <a:ea typeface="思源黑体-思源黑体-Medium" pitchFamily="34" charset="-122"/>
                <a:cs typeface="思源黑体-思源黑体-Medium" pitchFamily="34" charset="-120"/>
              </a:rPr>
              <a:t>.</a:t>
            </a:r>
          </a:p>
          <a:p>
            <a:pPr marL="0" indent="0" algn="just">
              <a:lnSpc>
                <a:spcPts val="2040"/>
              </a:lnSpc>
              <a:buNone/>
            </a:pPr>
            <a:endParaRPr lang="en-US" sz="1800" dirty="0" smtClean="0">
              <a:ea typeface="思源黑体-思源黑体-Medium" pitchFamily="34" charset="-122"/>
              <a:cs typeface="思源黑体-思源黑体-Medium" pitchFamily="34" charset="-120"/>
            </a:endParaRPr>
          </a:p>
          <a:p>
            <a:pPr algn="just">
              <a:lnSpc>
                <a:spcPts val="2040"/>
              </a:lnSpc>
              <a:buFont typeface="Wingdings" panose="05000000000000000000" pitchFamily="2" charset="2"/>
              <a:buChar char="Ø"/>
            </a:pPr>
            <a:r>
              <a:rPr lang="en-US" sz="1800" dirty="0">
                <a:ea typeface="思源黑体-思源黑体-Medium" pitchFamily="34" charset="-122"/>
                <a:cs typeface="思源黑体-思源黑体-Medium" pitchFamily="34" charset="-120"/>
              </a:rPr>
              <a:t>Various studies have shown that ARIMA models are effective for short-term crowd prediction. Others have applied machine learning approaches to enhance forecasting accuracy and incorporate dynamic factors affecting passenger flow. The integration of deep learning with established methods is also emphasized to better capture the complexities of urban transit systems</a:t>
            </a:r>
            <a:r>
              <a:rPr lang="en-US" sz="1800" dirty="0" smtClean="0">
                <a:ea typeface="思源黑体-思源黑体-Medium" pitchFamily="34" charset="-122"/>
                <a:cs typeface="思源黑体-思源黑体-Medium" pitchFamily="34" charset="-120"/>
              </a:rPr>
              <a:t>.</a:t>
            </a:r>
            <a:endParaRPr lang="en-US" sz="1800" dirty="0"/>
          </a:p>
        </p:txBody>
      </p:sp>
      <p:sp>
        <p:nvSpPr>
          <p:cNvPr id="4" name="Date Placeholder 3"/>
          <p:cNvSpPr>
            <a:spLocks noGrp="1"/>
          </p:cNvSpPr>
          <p:nvPr>
            <p:ph type="dt" sz="half" idx="10"/>
          </p:nvPr>
        </p:nvSpPr>
        <p:spPr/>
        <p:txBody>
          <a:bodyPr/>
          <a:lstStyle/>
          <a:p>
            <a:fld id="{4DA10CC1-F5E4-4FD6-B33A-C675844B3D9B}" type="datetime1">
              <a:rPr lang="en-IN" smtClean="0"/>
              <a:t>28-04-2026</a:t>
            </a:fld>
            <a:endParaRPr lang="en-US"/>
          </a:p>
        </p:txBody>
      </p:sp>
      <p:sp>
        <p:nvSpPr>
          <p:cNvPr id="5" name="Slide Number Placeholder 4"/>
          <p:cNvSpPr>
            <a:spLocks noGrp="1"/>
          </p:cNvSpPr>
          <p:nvPr>
            <p:ph type="sldNum" sz="quarter" idx="12"/>
          </p:nvPr>
        </p:nvSpPr>
        <p:spPr/>
        <p:txBody>
          <a:bodyPr/>
          <a:lstStyle/>
          <a:p>
            <a:fld id="{D6396F81-1074-6B40-A92F-A06CCD3B4178}" type="slidenum">
              <a:rPr lang="en-US" smtClean="0"/>
              <a:t>6</a:t>
            </a:fld>
            <a:endParaRPr lang="en-US"/>
          </a:p>
        </p:txBody>
      </p:sp>
    </p:spTree>
    <p:extLst>
      <p:ext uri="{BB962C8B-B14F-4D97-AF65-F5344CB8AC3E}">
        <p14:creationId xmlns:p14="http://schemas.microsoft.com/office/powerpoint/2010/main" val="3242432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289F9F-2744-3473-BD98-EC616C9C1913}"/>
              </a:ext>
            </a:extLst>
          </p:cNvPr>
          <p:cNvSpPr>
            <a:spLocks noGrp="1"/>
          </p:cNvSpPr>
          <p:nvPr>
            <p:ph type="title"/>
          </p:nvPr>
        </p:nvSpPr>
        <p:spPr/>
        <p:txBody>
          <a:bodyPr/>
          <a:lstStyle/>
          <a:p>
            <a:pPr algn="ctr"/>
            <a:r>
              <a:rPr lang="en-US" b="1" dirty="0"/>
              <a:t>OBJECTIVES</a:t>
            </a:r>
            <a:endParaRPr lang="en-IN" dirty="0"/>
          </a:p>
        </p:txBody>
      </p:sp>
      <p:sp>
        <p:nvSpPr>
          <p:cNvPr id="3" name="Content Placeholder 2">
            <a:extLst>
              <a:ext uri="{FF2B5EF4-FFF2-40B4-BE49-F238E27FC236}">
                <a16:creationId xmlns:a16="http://schemas.microsoft.com/office/drawing/2014/main" xmlns="" id="{3C1E68B9-6ECC-3723-E5B9-41198D59C3B6}"/>
              </a:ext>
            </a:extLst>
          </p:cNvPr>
          <p:cNvSpPr>
            <a:spLocks noGrp="1"/>
          </p:cNvSpPr>
          <p:nvPr>
            <p:ph idx="1"/>
          </p:nvPr>
        </p:nvSpPr>
        <p:spPr>
          <a:xfrm>
            <a:off x="838199" y="1253330"/>
            <a:ext cx="10931013" cy="5103019"/>
          </a:xfrm>
        </p:spPr>
        <p:txBody>
          <a:bodyPr>
            <a:noAutofit/>
          </a:bodyPr>
          <a:lstStyle/>
          <a:p>
            <a:pPr marL="252000">
              <a:lnSpc>
                <a:spcPct val="100000"/>
              </a:lnSpc>
              <a:spcBef>
                <a:spcPts val="600"/>
              </a:spcBef>
            </a:pPr>
            <a:r>
              <a:rPr lang="en-US" sz="2200" b="1" dirty="0" smtClean="0"/>
              <a:t>Objective1</a:t>
            </a:r>
            <a:r>
              <a:rPr lang="en-US" sz="2200" dirty="0" smtClean="0"/>
              <a:t>:</a:t>
            </a:r>
            <a:r>
              <a:rPr lang="en-US" sz="2400" b="1" dirty="0" smtClean="0"/>
              <a:t>Short-term demand prediction :</a:t>
            </a:r>
            <a:r>
              <a:rPr lang="en-US" sz="2400" dirty="0"/>
              <a:t/>
            </a:r>
            <a:br>
              <a:rPr lang="en-US" sz="2400" dirty="0"/>
            </a:br>
            <a:r>
              <a:rPr lang="en-US" sz="2400" dirty="0"/>
              <a:t>Estimate passenger volume for the next minutes or hours at stations or lines. This helps with train frequency adjustments, crowd control, and staffing decisions.</a:t>
            </a:r>
            <a:r>
              <a:rPr lang="en-IN" sz="2200" dirty="0" smtClean="0"/>
              <a:t> </a:t>
            </a:r>
            <a:endParaRPr lang="en-IN" sz="2200" dirty="0"/>
          </a:p>
          <a:p>
            <a:pPr marL="252000" algn="just">
              <a:lnSpc>
                <a:spcPct val="100000"/>
              </a:lnSpc>
              <a:spcBef>
                <a:spcPts val="600"/>
              </a:spcBef>
            </a:pPr>
            <a:endParaRPr lang="en-IN" sz="2200" dirty="0"/>
          </a:p>
          <a:p>
            <a:pPr marL="252000">
              <a:lnSpc>
                <a:spcPct val="100000"/>
              </a:lnSpc>
              <a:spcBef>
                <a:spcPts val="600"/>
              </a:spcBef>
            </a:pPr>
            <a:r>
              <a:rPr lang="en-US" sz="2200" b="1" dirty="0"/>
              <a:t>Objective 2</a:t>
            </a:r>
            <a:r>
              <a:rPr lang="en-US" sz="2200" dirty="0"/>
              <a:t>:</a:t>
            </a:r>
            <a:r>
              <a:rPr lang="en-IN" sz="2200" dirty="0"/>
              <a:t> </a:t>
            </a:r>
            <a:r>
              <a:rPr lang="en-US" sz="2400" b="1" dirty="0"/>
              <a:t>Peak load and congestion forecasting</a:t>
            </a:r>
            <a:r>
              <a:rPr lang="en-US" sz="2400" dirty="0"/>
              <a:t/>
            </a:r>
            <a:br>
              <a:rPr lang="en-US" sz="2400" dirty="0"/>
            </a:br>
            <a:r>
              <a:rPr lang="en-US" sz="2400" dirty="0"/>
              <a:t>Identify when and where overcrowding will occur. The goal is to proactively manage bottlenecks, improve passenger flow, and enhance safety during rush hours or special events.</a:t>
            </a:r>
            <a:endParaRPr lang="en-IN" sz="2200" dirty="0"/>
          </a:p>
          <a:p>
            <a:pPr marL="23400" indent="0" algn="just">
              <a:lnSpc>
                <a:spcPct val="100000"/>
              </a:lnSpc>
              <a:spcBef>
                <a:spcPts val="600"/>
              </a:spcBef>
              <a:buNone/>
            </a:pPr>
            <a:endParaRPr lang="en-US" sz="2200" dirty="0"/>
          </a:p>
          <a:p>
            <a:pPr marL="252000" lvl="0">
              <a:lnSpc>
                <a:spcPct val="100000"/>
              </a:lnSpc>
              <a:spcBef>
                <a:spcPts val="600"/>
              </a:spcBef>
            </a:pPr>
            <a:r>
              <a:rPr lang="en-US" sz="2200" b="1" dirty="0" smtClean="0"/>
              <a:t>Objective 3</a:t>
            </a:r>
            <a:r>
              <a:rPr lang="en-US" sz="2200" dirty="0" smtClean="0"/>
              <a:t>:</a:t>
            </a:r>
            <a:r>
              <a:rPr lang="en-US" sz="2400" b="1" dirty="0" smtClean="0"/>
              <a:t>Anomaly </a:t>
            </a:r>
            <a:r>
              <a:rPr lang="en-US" sz="2400" b="1" dirty="0"/>
              <a:t>detection and disruption management</a:t>
            </a:r>
            <a:r>
              <a:rPr lang="en-US" sz="2400" dirty="0"/>
              <a:t/>
            </a:r>
            <a:br>
              <a:rPr lang="en-US" sz="2400" dirty="0"/>
            </a:br>
            <a:r>
              <a:rPr lang="en-US" sz="2400" dirty="0"/>
              <a:t>Forecast expected traffic and flag deviations caused by incidents, holidays, weather, or service disruptions. This enables quicker response and system resilience.</a:t>
            </a:r>
            <a:endParaRPr lang="en-US" sz="2200" dirty="0"/>
          </a:p>
        </p:txBody>
      </p:sp>
      <p:sp>
        <p:nvSpPr>
          <p:cNvPr id="4" name="Date Placeholder 3">
            <a:extLst>
              <a:ext uri="{FF2B5EF4-FFF2-40B4-BE49-F238E27FC236}">
                <a16:creationId xmlns:a16="http://schemas.microsoft.com/office/drawing/2014/main" xmlns="" id="{937DD0D5-6638-9DD7-7DF9-1C2835E50711}"/>
              </a:ext>
            </a:extLst>
          </p:cNvPr>
          <p:cNvSpPr>
            <a:spLocks noGrp="1"/>
          </p:cNvSpPr>
          <p:nvPr>
            <p:ph type="dt" sz="half" idx="10"/>
          </p:nvPr>
        </p:nvSpPr>
        <p:spPr/>
        <p:txBody>
          <a:bodyPr/>
          <a:lstStyle/>
          <a:p>
            <a:fld id="{1272B950-8EDE-4068-9076-F6EAA8EE807D}" type="datetime1">
              <a:rPr lang="en-IN" smtClean="0"/>
              <a:t>28-04-2026</a:t>
            </a:fld>
            <a:endParaRPr lang="en-US"/>
          </a:p>
        </p:txBody>
      </p:sp>
      <p:sp>
        <p:nvSpPr>
          <p:cNvPr id="6" name="Slide Number Placeholder 5">
            <a:extLst>
              <a:ext uri="{FF2B5EF4-FFF2-40B4-BE49-F238E27FC236}">
                <a16:creationId xmlns:a16="http://schemas.microsoft.com/office/drawing/2014/main" xmlns="" id="{1D53A254-68F7-AF5E-9476-40570A35F448}"/>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77698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a typeface="思源黑体-思源黑体-Regular" pitchFamily="34" charset="-122"/>
                <a:cs typeface="思源黑体-思源黑体-Regular" pitchFamily="34" charset="-120"/>
              </a:rPr>
              <a:t>SOFTWARE REQUIREMENTS</a:t>
            </a:r>
            <a:r>
              <a:rPr lang="en-US" b="1" dirty="0"/>
              <a:t/>
            </a:r>
            <a:br>
              <a:rPr lang="en-US" b="1" dirty="0"/>
            </a:br>
            <a:endParaRPr lang="en-US" b="1" dirty="0"/>
          </a:p>
        </p:txBody>
      </p:sp>
      <p:sp>
        <p:nvSpPr>
          <p:cNvPr id="3" name="Content Placeholder 2"/>
          <p:cNvSpPr>
            <a:spLocks noGrp="1"/>
          </p:cNvSpPr>
          <p:nvPr>
            <p:ph idx="1"/>
          </p:nvPr>
        </p:nvSpPr>
        <p:spPr>
          <a:xfrm>
            <a:off x="838200" y="1463040"/>
            <a:ext cx="10515600" cy="4713923"/>
          </a:xfrm>
        </p:spPr>
        <p:txBody>
          <a:bodyPr>
            <a:normAutofit/>
          </a:bodyPr>
          <a:lstStyle/>
          <a:p>
            <a:pPr marL="0" indent="0">
              <a:buNone/>
            </a:pPr>
            <a:endParaRPr lang="en-US" dirty="0"/>
          </a:p>
          <a:p>
            <a:r>
              <a:rPr lang="en-US" sz="1800" dirty="0">
                <a:ea typeface="思源黑体-思源黑体-Medium" pitchFamily="34" charset="-122"/>
                <a:cs typeface="思源黑体-思源黑体-Medium" pitchFamily="34" charset="-120"/>
              </a:rPr>
              <a:t>Operating System: Windows 10</a:t>
            </a:r>
            <a:endParaRPr lang="en-US" sz="1800" dirty="0"/>
          </a:p>
          <a:p>
            <a:r>
              <a:rPr lang="en-US" sz="1800" dirty="0">
                <a:ea typeface="思源黑体-思源黑体-Medium" pitchFamily="34" charset="-122"/>
                <a:cs typeface="思源黑体-思源黑体-Medium" pitchFamily="34" charset="-120"/>
              </a:rPr>
              <a:t> Programming Language: Python 3.8+</a:t>
            </a:r>
            <a:endParaRPr lang="en-US" sz="1800" dirty="0"/>
          </a:p>
          <a:p>
            <a:r>
              <a:rPr lang="en-US" sz="1800" dirty="0">
                <a:ea typeface="思源黑体-思源黑体-Medium" pitchFamily="34" charset="-122"/>
                <a:cs typeface="思源黑体-思源黑体-Medium" pitchFamily="34" charset="-120"/>
              </a:rPr>
              <a:t>Web Framework: </a:t>
            </a:r>
            <a:r>
              <a:rPr lang="en-US" sz="1800" dirty="0" err="1">
                <a:ea typeface="思源黑体-思源黑体-Medium" pitchFamily="34" charset="-122"/>
                <a:cs typeface="思源黑体-思源黑体-Medium" pitchFamily="34" charset="-120"/>
              </a:rPr>
              <a:t>Django</a:t>
            </a:r>
            <a:r>
              <a:rPr lang="en-US" sz="1800" dirty="0">
                <a:ea typeface="思源黑体-思源黑体-Medium" pitchFamily="34" charset="-122"/>
                <a:cs typeface="思源黑体-思源黑体-Medium" pitchFamily="34" charset="-120"/>
              </a:rPr>
              <a:t> 3.2+</a:t>
            </a:r>
            <a:endParaRPr lang="en-US" sz="1800" dirty="0"/>
          </a:p>
          <a:p>
            <a:r>
              <a:rPr lang="en-US" sz="1800" dirty="0">
                <a:ea typeface="思源黑体-思源黑体-Medium" pitchFamily="34" charset="-122"/>
                <a:cs typeface="思源黑体-思源黑体-Medium" pitchFamily="34" charset="-120"/>
              </a:rPr>
              <a:t>Frontend Technologies: HTML, CSS</a:t>
            </a:r>
            <a:endParaRPr lang="en-US" sz="1800" dirty="0"/>
          </a:p>
          <a:p>
            <a:r>
              <a:rPr lang="en-US" sz="1800" dirty="0">
                <a:ea typeface="思源黑体-思源黑体-Medium" pitchFamily="34" charset="-122"/>
                <a:cs typeface="思源黑体-思源黑体-Medium" pitchFamily="34" charset="-120"/>
              </a:rPr>
              <a:t>Model Saving/Loading: </a:t>
            </a:r>
            <a:r>
              <a:rPr lang="en-US" sz="1800" dirty="0" err="1" smtClean="0">
                <a:ea typeface="思源黑体-思源黑体-Medium" pitchFamily="34" charset="-122"/>
                <a:cs typeface="思源黑体-思源黑体-Medium" pitchFamily="34" charset="-120"/>
              </a:rPr>
              <a:t>joblib</a:t>
            </a:r>
            <a:endParaRPr lang="en-US" sz="1800" dirty="0" smtClean="0">
              <a:ea typeface="思源黑体-思源黑体-Medium" pitchFamily="34" charset="-122"/>
              <a:cs typeface="思源黑体-思源黑体-Medium" pitchFamily="34" charset="-120"/>
            </a:endParaRPr>
          </a:p>
          <a:p>
            <a:r>
              <a:rPr lang="en-US" sz="1800" dirty="0">
                <a:ea typeface="思源黑体-思源黑体-Medium" pitchFamily="34" charset="-122"/>
                <a:cs typeface="思源黑体-思源黑体-Medium" pitchFamily="34" charset="-120"/>
              </a:rPr>
              <a:t>Browser: Chrome / Firefox / Edge</a:t>
            </a:r>
            <a:endParaRPr lang="en-US" sz="1800" dirty="0"/>
          </a:p>
          <a:p>
            <a:endParaRPr lang="en-US" dirty="0"/>
          </a:p>
          <a:p>
            <a:pPr marL="0" indent="0">
              <a:buNone/>
            </a:pPr>
            <a:endParaRPr lang="en-US" dirty="0" smtClean="0"/>
          </a:p>
          <a:p>
            <a:endParaRPr lang="en-US" dirty="0"/>
          </a:p>
        </p:txBody>
      </p:sp>
      <p:sp>
        <p:nvSpPr>
          <p:cNvPr id="4" name="Date Placeholder 3"/>
          <p:cNvSpPr>
            <a:spLocks noGrp="1"/>
          </p:cNvSpPr>
          <p:nvPr>
            <p:ph type="dt" sz="half" idx="10"/>
          </p:nvPr>
        </p:nvSpPr>
        <p:spPr/>
        <p:txBody>
          <a:bodyPr/>
          <a:lstStyle/>
          <a:p>
            <a:fld id="{4DA10CC1-F5E4-4FD6-B33A-C675844B3D9B}" type="datetime1">
              <a:rPr lang="en-IN" smtClean="0"/>
              <a:t>29-04-2026</a:t>
            </a:fld>
            <a:endParaRPr lang="en-US"/>
          </a:p>
        </p:txBody>
      </p:sp>
      <p:sp>
        <p:nvSpPr>
          <p:cNvPr id="5" name="Slide Number Placeholder 4"/>
          <p:cNvSpPr>
            <a:spLocks noGrp="1"/>
          </p:cNvSpPr>
          <p:nvPr>
            <p:ph type="sldNum" sz="quarter" idx="12"/>
          </p:nvPr>
        </p:nvSpPr>
        <p:spPr/>
        <p:txBody>
          <a:bodyPr/>
          <a:lstStyle/>
          <a:p>
            <a:fld id="{D6396F81-1074-6B40-A92F-A06CCD3B4178}" type="slidenum">
              <a:rPr lang="en-US" smtClean="0"/>
              <a:t>8</a:t>
            </a:fld>
            <a:endParaRPr lang="en-US"/>
          </a:p>
        </p:txBody>
      </p:sp>
    </p:spTree>
    <p:extLst>
      <p:ext uri="{BB962C8B-B14F-4D97-AF65-F5344CB8AC3E}">
        <p14:creationId xmlns:p14="http://schemas.microsoft.com/office/powerpoint/2010/main" val="3305339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smtClean="0"/>
              <a:t>HARDWARE REQUIREMENTS</a:t>
            </a:r>
            <a:r>
              <a:rPr lang="en-IN" dirty="0"/>
              <a:t/>
            </a:r>
            <a:br>
              <a:rPr lang="en-IN" dirty="0"/>
            </a:br>
            <a:endParaRPr lang="en-US" dirty="0"/>
          </a:p>
        </p:txBody>
      </p:sp>
      <p:sp>
        <p:nvSpPr>
          <p:cNvPr id="3" name="Content Placeholder 2"/>
          <p:cNvSpPr>
            <a:spLocks noGrp="1"/>
          </p:cNvSpPr>
          <p:nvPr>
            <p:ph idx="1"/>
          </p:nvPr>
        </p:nvSpPr>
        <p:spPr>
          <a:xfrm>
            <a:off x="838200" y="1074420"/>
            <a:ext cx="10515600" cy="5281930"/>
          </a:xfrm>
        </p:spPr>
        <p:txBody>
          <a:bodyPr/>
          <a:lstStyle/>
          <a:p>
            <a:pPr marL="0" indent="0">
              <a:buNone/>
            </a:pPr>
            <a:endParaRPr lang="en-US" dirty="0"/>
          </a:p>
          <a:p>
            <a:pPr marL="0" indent="0">
              <a:buNone/>
            </a:pPr>
            <a:endParaRPr lang="en-US" dirty="0" smtClean="0"/>
          </a:p>
        </p:txBody>
      </p:sp>
      <p:sp>
        <p:nvSpPr>
          <p:cNvPr id="4" name="Date Placeholder 3"/>
          <p:cNvSpPr>
            <a:spLocks noGrp="1"/>
          </p:cNvSpPr>
          <p:nvPr>
            <p:ph type="dt" sz="half" idx="10"/>
          </p:nvPr>
        </p:nvSpPr>
        <p:spPr/>
        <p:txBody>
          <a:bodyPr/>
          <a:lstStyle/>
          <a:p>
            <a:fld id="{4DA10CC1-F5E4-4FD6-B33A-C675844B3D9B}" type="datetime1">
              <a:rPr lang="en-IN" smtClean="0"/>
              <a:t>29-04-2026</a:t>
            </a:fld>
            <a:endParaRPr lang="en-US"/>
          </a:p>
        </p:txBody>
      </p:sp>
      <p:sp>
        <p:nvSpPr>
          <p:cNvPr id="5" name="Slide Number Placeholder 4"/>
          <p:cNvSpPr>
            <a:spLocks noGrp="1"/>
          </p:cNvSpPr>
          <p:nvPr>
            <p:ph type="sldNum" sz="quarter" idx="12"/>
          </p:nvPr>
        </p:nvSpPr>
        <p:spPr/>
        <p:txBody>
          <a:bodyPr/>
          <a:lstStyle/>
          <a:p>
            <a:fld id="{D6396F81-1074-6B40-A92F-A06CCD3B4178}" type="slidenum">
              <a:rPr lang="en-US" smtClean="0"/>
              <a:t>9</a:t>
            </a:fld>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496432"/>
              </p:ext>
            </p:extLst>
          </p:nvPr>
        </p:nvGraphicFramePr>
        <p:xfrm>
          <a:off x="548640" y="1734504"/>
          <a:ext cx="11155680" cy="3855720"/>
        </p:xfrm>
        <a:graphic>
          <a:graphicData uri="http://schemas.openxmlformats.org/drawingml/2006/table">
            <a:tbl>
              <a:tblPr/>
              <a:tblGrid>
                <a:gridCol w="5577840">
                  <a:extLst>
                    <a:ext uri="{9D8B030D-6E8A-4147-A177-3AD203B41FA5}">
                      <a16:colId xmlns="" xmlns:a16="http://schemas.microsoft.com/office/drawing/2014/main" val="20000"/>
                    </a:ext>
                  </a:extLst>
                </a:gridCol>
                <a:gridCol w="5577840">
                  <a:extLst>
                    <a:ext uri="{9D8B030D-6E8A-4147-A177-3AD203B41FA5}">
                      <a16:colId xmlns="" xmlns:a16="http://schemas.microsoft.com/office/drawing/2014/main" val="20001"/>
                    </a:ext>
                  </a:extLst>
                </a:gridCol>
              </a:tblGrid>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Component</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Specification</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0"/>
                  </a:ext>
                </a:extLst>
              </a:tr>
              <a:tr h="0">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Processor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Intel Core i5 or higher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1"/>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RAM</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Minimum 8 GB</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2"/>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Hard Disk</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Minimum 100 GB free space</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3"/>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Monitor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HD Display (1024x768 resolution or higher)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4"/>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Input Devices</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Standard Keyboard and Mouse</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2574023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D0EA0955-66E4-4DA4-B717-AF78D9ABC5F6}" type="datetime1">
              <a:rPr lang="en-IN" smtClean="0"/>
              <a:t>28-04-2026</a:t>
            </a:fld>
            <a:endParaRPr lang="en-US"/>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4859</TotalTime>
  <Words>791</Words>
  <Application>Microsoft Office PowerPoint</Application>
  <PresentationFormat>Widescreen</PresentationFormat>
  <Paragraphs>91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Wingdings</vt:lpstr>
      <vt:lpstr>思源黑体-思源黑体-Medium</vt:lpstr>
      <vt:lpstr>思源黑体-思源黑体-Regular</vt:lpstr>
      <vt:lpstr>Custom Design</vt:lpstr>
      <vt:lpstr>              Forecasting Passenger Traffic in Metro Systems </vt:lpstr>
      <vt:lpstr>OUTLINE</vt:lpstr>
      <vt:lpstr>ABSTRACT</vt:lpstr>
      <vt:lpstr>EXISTING SYSTEM</vt:lpstr>
      <vt:lpstr>PROPOSED SYSTEM</vt:lpstr>
      <vt:lpstr>LITERATURE REVIEW</vt:lpstr>
      <vt:lpstr>OBJECTIVES</vt:lpstr>
      <vt:lpstr>SOFTWARE REQUIREMENTS </vt:lpstr>
      <vt:lpstr>HARDWARE REQUIREMENTS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Microsoft account</cp:lastModifiedBy>
  <cp:revision>77</cp:revision>
  <dcterms:created xsi:type="dcterms:W3CDTF">2022-05-20T10:20:31Z</dcterms:created>
  <dcterms:modified xsi:type="dcterms:W3CDTF">2026-04-29T05:55:02Z</dcterms:modified>
</cp:coreProperties>
</file>